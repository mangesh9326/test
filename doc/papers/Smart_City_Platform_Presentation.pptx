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2904" y="14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076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91440" cy="2011680"/>
          </a:xfrm>
          <a:prstGeom prst="rect">
            <a:avLst/>
          </a:prstGeom>
          <a:solidFill>
            <a:srgbClr val="19B5A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Smart City Operating Platform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Multi-Agent Decision Intelligence, Explainable AI, Digital Twin, and LLM-Based Decision Support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57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Mangesh Bandre  |  Roll No. 553  |  M.Sc. Computer Science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Mrs. Megha Sawant  |  Ramnarain Ruia Autonomous College, Matunga, Mumbai  |  2026-27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54480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00200"/>
            <a:ext cx="3611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dashboards only monitor; decisions stay manual and slow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work in silos, no cross-department coordination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predictions reduce operator trust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scenario simulation, no LLM support, no learning from outcomes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97280"/>
            <a:ext cx="73152" cy="3474720"/>
          </a:xfrm>
          <a:prstGeom prst="rect">
            <a:avLst/>
          </a:prstGeom>
          <a:solidFill>
            <a:srgbClr val="19B5A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46320" y="1170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554480"/>
            <a:ext cx="3749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600200"/>
            <a:ext cx="3703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AI-native architecture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collaborating agents: Traffic, Hospital, Police, Fire, Weather, Utility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 for prioritisation and resource allocation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for transparency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Digital Twin for scenarios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City Assistant; compare with dashboard baseline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Research Gaps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platforms (IBM, Cisco, Siemens, Huawei) give dashboards and alerts, not decisions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MAS, XAI, Digital Twins and LLMs are each well studied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Foundations: Batty 2012, Zanella 2014, Wooldridge 2009, Lundberg &amp; Lee 2017 (SHAP), Brown 2020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06040"/>
            <a:ext cx="73152" cy="960120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79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AI models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cross-domain collaboration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60604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2606040"/>
            <a:ext cx="73152" cy="960120"/>
          </a:xfrm>
          <a:prstGeom prst="rect">
            <a:avLst/>
          </a:prstGeom>
          <a:solidFill>
            <a:srgbClr val="19B5A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29000" y="2679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Dashboard-centric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prioritisation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60604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2606040"/>
            <a:ext cx="73152" cy="960120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2679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AI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XAI in operations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657600"/>
            <a:ext cx="73152" cy="960120"/>
          </a:xfrm>
          <a:prstGeom prst="rect">
            <a:avLst/>
          </a:prstGeom>
          <a:solidFill>
            <a:srgbClr val="19B5A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730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twins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linked to decisions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365760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3657600"/>
            <a:ext cx="73152" cy="960120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29000" y="3730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LLM support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multi-agent explanations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365760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3657600"/>
            <a:ext cx="73152" cy="960120"/>
          </a:xfrm>
          <a:prstGeom prst="rect">
            <a:avLst/>
          </a:prstGeom>
          <a:solidFill>
            <a:srgbClr val="19B5A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17920" y="3730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architecture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models, no learning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376185-4F28-725A-8878-886672AA5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6939" y="149719"/>
            <a:ext cx="7456833" cy="484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112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Design Science Research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874520" cy="822960"/>
          </a:xfrm>
          <a:prstGeom prst="roundRect">
            <a:avLst>
              <a:gd name="adj" fmla="val 11111"/>
            </a:avLst>
          </a:prstGeom>
          <a:solidFill>
            <a:srgbClr val="1E6F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114300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14600" y="1143000"/>
            <a:ext cx="1874520" cy="822960"/>
          </a:xfrm>
          <a:prstGeom prst="roundRect">
            <a:avLst>
              <a:gd name="adj" fmla="val 11111"/>
            </a:avLst>
          </a:prstGeom>
          <a:solidFill>
            <a:srgbClr val="1E6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14600" y="114300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1874520" cy="822960"/>
          </a:xfrm>
          <a:prstGeom prst="roundRect">
            <a:avLst>
              <a:gd name="adj" fmla="val 11111"/>
            </a:avLst>
          </a:prstGeom>
          <a:solidFill>
            <a:srgbClr val="1E6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114300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12280" y="1143000"/>
            <a:ext cx="1874520" cy="822960"/>
          </a:xfrm>
          <a:prstGeom prst="roundRect">
            <a:avLst>
              <a:gd name="adj" fmla="val 11111"/>
            </a:avLst>
          </a:prstGeom>
          <a:solidFill>
            <a:srgbClr val="1E6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12280" y="114300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1874520" cy="822960"/>
          </a:xfrm>
          <a:prstGeom prst="roundRect">
            <a:avLst>
              <a:gd name="adj" fmla="val 11111"/>
            </a:avLst>
          </a:prstGeom>
          <a:solidFill>
            <a:srgbClr val="19B5A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237744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514600" y="2377440"/>
            <a:ext cx="1874520" cy="822960"/>
          </a:xfrm>
          <a:prstGeom prst="roundRect">
            <a:avLst>
              <a:gd name="adj" fmla="val 11111"/>
            </a:avLst>
          </a:prstGeom>
          <a:solidFill>
            <a:srgbClr val="19B5A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514600" y="237744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+ Twin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63440" y="2377440"/>
            <a:ext cx="1874520" cy="822960"/>
          </a:xfrm>
          <a:prstGeom prst="roundRect">
            <a:avLst>
              <a:gd name="adj" fmla="val 11111"/>
            </a:avLst>
          </a:prstGeom>
          <a:solidFill>
            <a:srgbClr val="19B5A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63440" y="237744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assistant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12280" y="2377440"/>
            <a:ext cx="1874520" cy="822960"/>
          </a:xfrm>
          <a:prstGeom prst="roundRect">
            <a:avLst>
              <a:gd name="adj" fmla="val 11111"/>
            </a:avLst>
          </a:prstGeom>
          <a:solidFill>
            <a:srgbClr val="19B5A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237744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loop: record outcomes, compare predicted vs actual, retrain models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public + simulated (traffic, weather, GPS, CCTV, hospital, fire, utility, citizen reports)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170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layer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544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XGBoost, Gradient Boosting for traffic, flood, hospital, fire, utility faults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97280"/>
            <a:ext cx="73152" cy="1645920"/>
          </a:xfrm>
          <a:prstGeom prst="rect">
            <a:avLst/>
          </a:prstGeom>
          <a:solidFill>
            <a:srgbClr val="19B5A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70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layer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5544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monitor, share info and request help across departments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097280"/>
            <a:ext cx="73152" cy="1645920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170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5544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 from severity, affected citizens, traffic impact, resources; ranks incidents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80360"/>
            <a:ext cx="73152" cy="1645920"/>
          </a:xfrm>
          <a:prstGeom prst="rect">
            <a:avLst/>
          </a:prstGeom>
          <a:solidFill>
            <a:srgbClr val="19B5A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2953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3375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SHAP/LIME feature importance turned into plain-language reasons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28803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2880360"/>
            <a:ext cx="73152" cy="1645920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29000" y="2953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Digital Twin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33375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map simulating floods, fires, road closures, rerouting before action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28803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2880360"/>
            <a:ext cx="73152" cy="1645920"/>
          </a:xfrm>
          <a:prstGeom prst="rect">
            <a:avLst/>
          </a:prstGeom>
          <a:solidFill>
            <a:srgbClr val="19B5A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17920" y="2953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City Assistant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33375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queries, summarises incidents, explains decisions in natural language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54480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00200"/>
            <a:ext cx="3611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React, Tailwind, Leaflet, Recharts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Node.js, Express, Socket.IO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PostgreSQL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Python, Scikit-learn, XGBoost, SHAP/LIME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OpenAI-compatible API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Docker, Nginx, Linux/Cloud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554480"/>
            <a:ext cx="3749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600200"/>
            <a:ext cx="3703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  <a:buSzPct val="100000"/>
            </a:pP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54480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00200"/>
            <a:ext cx="3611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contribution is the integrated architecture, not a single model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smart cities from monitoring to explainable decision support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simulated data, 2D twin, simulated learning, no autonomous control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97280"/>
            <a:ext cx="73152" cy="3474720"/>
          </a:xfrm>
          <a:prstGeom prst="rect">
            <a:avLst/>
          </a:prstGeom>
          <a:solidFill>
            <a:srgbClr val="19B5A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46320" y="1170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554480"/>
            <a:ext cx="3749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600200"/>
            <a:ext cx="3703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IoT integration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Digital Twin and Edge AI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and drones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autonomous dispatch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RAG-enhanced LLM assistant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with real municipal data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507</Words>
  <Application>Microsoft Office PowerPoint</Application>
  <PresentationFormat>On-screen Show (16:9)</PresentationFormat>
  <Paragraphs>90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mangesh bandre</cp:lastModifiedBy>
  <cp:revision>4</cp:revision>
  <dcterms:created xsi:type="dcterms:W3CDTF">2026-10-05T17:32:40Z</dcterms:created>
  <dcterms:modified xsi:type="dcterms:W3CDTF">2026-10-06T20:57:44Z</dcterms:modified>
</cp:coreProperties>
</file>